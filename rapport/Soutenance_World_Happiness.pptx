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3771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373771"/>
                </a:solidFill>
                <a:latin typeface="Calibri"/>
              </a:rPr>
              <a:t>Score moyen déclaré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moyen mondial</c:v>
                </c:pt>
              </c:strCache>
            </c:strRef>
          </c:tx>
          <c:spPr>
            <a:ln w="38100" cap="flat">
              <a:solidFill>
                <a:srgbClr val="3737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3771"/>
              </a:solidFill>
              <a:ln w="9525" cap="flat">
                <a:solidFill>
                  <a:srgbClr val="373771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6.45</c:v>
                </c:pt>
                <c:pt idx="1">
                  <c:v>5.2</c:v>
                </c:pt>
                <c:pt idx="2">
                  <c:v>5.42</c:v>
                </c:pt>
                <c:pt idx="3">
                  <c:v>5.42</c:v>
                </c:pt>
                <c:pt idx="4">
                  <c:v>5.46</c:v>
                </c:pt>
                <c:pt idx="5">
                  <c:v>5.5</c:v>
                </c:pt>
                <c:pt idx="6">
                  <c:v>5.42</c:v>
                </c:pt>
                <c:pt idx="7">
                  <c:v>5.44</c:v>
                </c:pt>
                <c:pt idx="8">
                  <c:v>5.39</c:v>
                </c:pt>
                <c:pt idx="9">
                  <c:v>5.39</c:v>
                </c:pt>
                <c:pt idx="10">
                  <c:v>5.4</c:v>
                </c:pt>
                <c:pt idx="11">
                  <c:v>5.4</c:v>
                </c:pt>
                <c:pt idx="12">
                  <c:v>5.46</c:v>
                </c:pt>
                <c:pt idx="13">
                  <c:v>5.5</c:v>
                </c:pt>
                <c:pt idx="14">
                  <c:v>5.57</c:v>
                </c:pt>
                <c:pt idx="15">
                  <c:v>5.73</c:v>
                </c:pt>
                <c:pt idx="16">
                  <c:v>5.64</c:v>
                </c:pt>
                <c:pt idx="17">
                  <c:v>5.5</c:v>
                </c:pt>
                <c:pt idx="18">
                  <c:v>5.62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F4-49F3-AC41-0E2DAB1C6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6"/>
          <c:min val="5"/>
        </c:scaling>
        <c:delete val="0"/>
        <c:axPos val="l"/>
        <c:majorGridlines>
          <c:spPr>
            <a:ln w="12700" cap="flat">
              <a:solidFill>
                <a:srgbClr val="E4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3771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373771"/>
                </a:solidFill>
                <a:latin typeface="Calibri"/>
              </a:rPr>
              <a:t>Nombre de pays enquêtés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Pays enquêtés</c:v>
                </c:pt>
              </c:strCache>
            </c:strRef>
          </c:tx>
          <c:spPr>
            <a:solidFill>
              <a:srgbClr val="FF6745"/>
            </a:solidFill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27</c:v>
                </c:pt>
                <c:pt idx="1">
                  <c:v>89</c:v>
                </c:pt>
                <c:pt idx="2">
                  <c:v>102</c:v>
                </c:pt>
                <c:pt idx="3">
                  <c:v>110</c:v>
                </c:pt>
                <c:pt idx="4">
                  <c:v>114</c:v>
                </c:pt>
                <c:pt idx="5">
                  <c:v>124</c:v>
                </c:pt>
                <c:pt idx="6">
                  <c:v>146</c:v>
                </c:pt>
                <c:pt idx="7">
                  <c:v>141</c:v>
                </c:pt>
                <c:pt idx="8">
                  <c:v>136</c:v>
                </c:pt>
                <c:pt idx="9">
                  <c:v>144</c:v>
                </c:pt>
                <c:pt idx="10">
                  <c:v>142</c:v>
                </c:pt>
                <c:pt idx="11">
                  <c:v>141</c:v>
                </c:pt>
                <c:pt idx="12">
                  <c:v>147</c:v>
                </c:pt>
                <c:pt idx="13">
                  <c:v>141</c:v>
                </c:pt>
                <c:pt idx="14">
                  <c:v>143</c:v>
                </c:pt>
                <c:pt idx="15">
                  <c:v>116</c:v>
                </c:pt>
                <c:pt idx="16">
                  <c:v>122</c:v>
                </c:pt>
                <c:pt idx="17">
                  <c:v>140</c:v>
                </c:pt>
                <c:pt idx="18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8F-4BA1-A6CC-9ADAAFBF8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avec le score de bien-être</c:v>
                </c:pt>
              </c:strCache>
            </c:strRef>
          </c:tx>
          <c:spPr>
            <a:solidFill>
              <a:srgbClr val="37377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E2E44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Générosité</c:v>
                </c:pt>
                <c:pt idx="1">
                  <c:v>Affect négatif</c:v>
                </c:pt>
                <c:pt idx="2">
                  <c:v>Corruption perçue</c:v>
                </c:pt>
                <c:pt idx="3">
                  <c:v>Affect positif</c:v>
                </c:pt>
                <c:pt idx="4">
                  <c:v>Liberté de choix</c:v>
                </c:pt>
                <c:pt idx="5">
                  <c:v>Espérance de vie</c:v>
                </c:pt>
                <c:pt idx="6">
                  <c:v>Soutien social</c:v>
                </c:pt>
                <c:pt idx="7">
                  <c:v>PIB par habitant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0.17699999999999999</c:v>
                </c:pt>
                <c:pt idx="1">
                  <c:v>-0.35199999999999998</c:v>
                </c:pt>
                <c:pt idx="2">
                  <c:v>-0.43</c:v>
                </c:pt>
                <c:pt idx="3">
                  <c:v>0.51500000000000001</c:v>
                </c:pt>
                <c:pt idx="4">
                  <c:v>0.53800000000000003</c:v>
                </c:pt>
                <c:pt idx="5">
                  <c:v>0.71499999999999997</c:v>
                </c:pt>
                <c:pt idx="6">
                  <c:v>0.72299999999999998</c:v>
                </c:pt>
                <c:pt idx="7">
                  <c:v>0.78400000000000003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81-4DB0-AC6D-650E761571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6"/>
        </c:scaling>
        <c:delete val="0"/>
        <c:axPos val="b"/>
        <c:majorGridlines>
          <c:spPr>
            <a:ln w="12700" cap="flat">
              <a:solidFill>
                <a:srgbClr val="E4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6768F"/>
                </a:solidFill>
                <a:latin typeface="Calibri"/>
              </a:defRPr>
            </a:pPr>
            <a:r>
              <a:rPr lang="fr-FR" sz="1200" b="0" i="0" u="none" strike="noStrike">
                <a:solidFill>
                  <a:srgbClr val="76768F"/>
                </a:solidFill>
                <a:latin typeface="Calibri"/>
              </a:rPr>
              <a:t>Écart entre score observé et score attendu, 2023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au modèle</c:v>
                </c:pt>
              </c:strCache>
            </c:strRef>
          </c:tx>
          <c:spPr>
            <a:solidFill>
              <a:srgbClr val="373771"/>
            </a:solidFill>
            <a:effectLst/>
          </c:spPr>
          <c:invertIfNegative val="0"/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44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Sri Lanka</c:v>
                </c:pt>
                <c:pt idx="1">
                  <c:v>Liban</c:v>
                </c:pt>
                <c:pt idx="2">
                  <c:v>Afghanistan</c:v>
                </c:pt>
                <c:pt idx="3">
                  <c:v>Botswana</c:v>
                </c:pt>
                <c:pt idx="4">
                  <c:v>Égypte</c:v>
                </c:pt>
                <c:pt idx="5">
                  <c:v>Guatemala</c:v>
                </c:pt>
                <c:pt idx="6">
                  <c:v>Salvador</c:v>
                </c:pt>
                <c:pt idx="7">
                  <c:v>Costa Rica</c:v>
                </c:pt>
                <c:pt idx="8">
                  <c:v>Venezuela</c:v>
                </c:pt>
                <c:pt idx="9">
                  <c:v>Kosovo</c:v>
                </c:pt>
                <c:pt idx="10">
                  <c:v>Mozambique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-2.08</c:v>
                </c:pt>
                <c:pt idx="1">
                  <c:v>-1.75</c:v>
                </c:pt>
                <c:pt idx="2">
                  <c:v>-1.71</c:v>
                </c:pt>
                <c:pt idx="3">
                  <c:v>-1.59</c:v>
                </c:pt>
                <c:pt idx="4">
                  <c:v>-1.49</c:v>
                </c:pt>
                <c:pt idx="5">
                  <c:v>1</c:v>
                </c:pt>
                <c:pt idx="6">
                  <c:v>1.06</c:v>
                </c:pt>
                <c:pt idx="7">
                  <c:v>1.1100000000000001</c:v>
                </c:pt>
                <c:pt idx="8">
                  <c:v>1.2</c:v>
                </c:pt>
                <c:pt idx="9">
                  <c:v>1.22</c:v>
                </c:pt>
                <c:pt idx="10">
                  <c:v>1.72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FE-415A-8495-CE8506C1A9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-2.6"/>
        </c:scaling>
        <c:delete val="0"/>
        <c:axPos val="b"/>
        <c:majorGridlines>
          <c:spPr>
            <a:ln w="12700" cap="flat">
              <a:solidFill>
                <a:srgbClr val="E4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8F"/>
                </a:solidFill>
                <a:latin typeface="Calibri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08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en 20 minutes. Se présenter, annoncer le plan en une phrase : on part d'une question, on montre comment les données ont été préparées, ce qu'elles révèlent, et ce qu'on en a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s'attarder. Le message : on ne cherche pas à refaire le classement, on cherche à comprendre les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deux caractéristiques structurantes : le panel non équilibré, qui dicte la stratégie d'imputation, et l'hétérogénéité d'échelle, qui dicte la normalisation. Tout le pre-processing découle de ces deux constats.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: on n'a pas choisi la méthode d'imputation par habitude, on l'a choisie parce que la carte des manquants montrait des blocs horizontaux.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slide qui montre qu'on a lu les données plutôt que de les tracer. Si le jury doit retenir une seule chose de la partie exploration, c'est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: aucune ligne supprimée, et on le prouve par le contrôle de densité. C'est une décision de conception, pas un raccourci.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probable du jury : pourquoi garder les deux ? Réponse : parce qu'elles ne servent pas à la même chose. Min-Max pour l'œil, Z-score pour le calcul.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Anticiper la question : pourquoi garder la générosité si elle ne corrèle pas ? Parce que sa définition même est un résidu — sa faible corrélation est un résultat, pas un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pivot intellectuel de la soutenance. Prendre le temps de l'énoncer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Enchaîner rapidement puis basculer sur la démonstration en direct. Insister sur la continuité : radar = colonnes Min-Max du rendu 1, régression = score composite du rendu 1. Rien de ce qui a été préparé n'est resté inutilisé.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résultat que le jury doit retenir — et il est DANS le tableau de bord : page Modèle de régression, r² = 0,75, coloration verte/rouge par écart. Les résidus atteignent deux points de Cantril, considérable sur une échelle où l'écart-type vaut 1,13. Hypothèses : cohésion sociale, inégalités internes, situation politique. Faire la démo en direct sur cette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défensif : montrer qu'on connaît les limites de son travail vaut mieux que se les faire signaler. Ne pas s'excuser, énoncer.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Mentionner ici, posément, le recours à un outil d'assistance pour le développement de l'application : « avec l'appui d'un assistant de code pour l'implémentation ; la conception et les décisions méthodologiques sont les nôtres. » Puis enchaîner.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Dix minutes de questions. Points les plus probables : pourquoi ces pondérations dans le score composite, pourquoi conserver les outliers, comment gérer les manquants non aléatoires, et pourquoi deux restitutions.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· DATA ANALYST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bien-être sur Terre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2 363 observations disent du bonheur — et ce qu’elles n’en disent pas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FF6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2024   ·   165 pays   ·   2005 – 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Oubella   ·   Seydou Dabo   ·   Leodomir Hakizimana   ·   Raphaela Essombono Nkoudou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   ·   [</a:t>
            </a:r>
            <a:r>
              <a:rPr lang="en-US" sz="1100" i="1" dirty="0" err="1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1100" i="1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26]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intuition à confronter aux données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L’argent ne fait pas le bonheur 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World Happiness Report demande chaque année à un millier d'habitants par pays de noter leur propre vie de 0 à 10. Il met ensuite ce score en regard de six déterminants objectifs : revenu, soutien social, santé, liberté, générosité, corruption.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questions structurent le projet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sont associés à un niveau de bien-être élevé 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ordre d'importance 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surtout : qui échappe à la règle 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92024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212140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décalage qui motive le projet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28432" y="2542032"/>
            <a:ext cx="3419856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Costa Rica se classe 4ᵉ mondial en 2023 avec un PIB par habitant très inférieur à celui de ses voisins de classement.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Botswana fait exactement l'inverse.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écarts ne sont pas du bruit statistique : ils sont stables dans le temps et concernent toujours les mêmes pays.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panel mondial sur dix-neuf 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2 363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ligne = 1 pays × 1 année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10128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310128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53328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053328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années, de 2005 à 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96528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1,49 %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796528" y="25877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valeurs manquantes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520440"/>
            <a:ext cx="11064240" cy="0"/>
          </a:xfrm>
          <a:prstGeom prst="line">
            <a:avLst/>
          </a:prstGeom>
          <a:noFill/>
          <a:ln w="12700">
            <a:solidFill>
              <a:srgbClr val="DD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95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non équilibré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416552"/>
            <a:ext cx="30540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observation (Cuba) à 18 (Argentine). Tous les pays ne sont pas présents toutes les années.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95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Échelles hétérogènes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416552"/>
            <a:ext cx="30540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 de vie court de 6,7 à 74,6 ans. Les six autres indicateurs sont bornés entre 0 et 1. Un facteur cent.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65008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9959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complète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4416552"/>
            <a:ext cx="30540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de bien-être et les identifiants sont intégralement renseignés. Aucune ligne à écarter faute de cible.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données cachaient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manquants ne sont pas répartis au hasard</a:t>
            </a:r>
            <a:endParaRPr lang="en-US" sz="3200" dirty="0"/>
          </a:p>
        </p:txBody>
      </p:sp>
      <p:pic>
        <p:nvPicPr>
          <p:cNvPr id="5" name="Image 0" descr="/home/claude/fig/cell0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858000" cy="2551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297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: taux de manquants par variable et localisation dans le jeu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0" y="16916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189280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manquant qui parle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28432" y="2313432"/>
            <a:ext cx="34198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corruption perçue concentre un tiers des manquants. La question est politiquement sensible : elle n'est pas posée partout. L'absence de réponse porte donc elle-même une information.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39776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417880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blocs, pas du bruit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28432" y="4599432"/>
            <a:ext cx="34198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manquants se regroupent par pays sur plusieurs années consécutives. C'est ce constat qui a orienté l'imputation vers une approche intra-pays.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effondrement du bonheur mondial ? Non.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48640" y="393192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18288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décrochage est un artefact d’échantillonnage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400800" y="260604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2005, 27 pays sont enquêtés — presque tous développés. En 2006, ils sont 89. La moyenne chute de 6,45 à 5,20 sans qu'aucun pays n'ait perdu en bien-être.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l'échantillon stabilisé à partir de 2007, la moyenne mondiale ne bouge quasiment plus : elle oscille entre 5,39 et 5,73 pendant seize ans.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0" y="47548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56832" y="495604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sur le livrable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56832" y="5376672"/>
            <a:ext cx="4791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séries temporelles démarrent en 2007 par défaut, avec une note explicative — plutôt que de masquer le biais.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décisions, et pourquoi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Imputer sans déformer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02920" cy="50292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intra-pays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 la trajectoire chronologique propre à chaque pays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72968"/>
            <a:ext cx="502920" cy="50292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363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avant et arrière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538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les extrémités de série, que l'interpolation ne peut encadrer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07408"/>
            <a:ext cx="502920" cy="50292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3708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globale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7731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recours. Médiane et non moyenne : les distributions sont asymétriques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17830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198424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a refusé de faire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36992" y="2404872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lignes incomplètes : perte de pays et d'années entiers.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par la moyenne mondiale : cela reviendrait à prêter à l'Afghanistan le PIB moyen de la planète.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39776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417880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36992" y="4599432"/>
            <a:ext cx="35112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des densités avant et après imputation : les courbes restent confondues pour les huit variables.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0 valeur manquante, 0 ligne perdue.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mises à l’échelle, deux usages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 de vie s'exprime en dizaines d'années, les autres indicateurs entre 0 et 1. Sans mise à l'échelle, une seule variable écrase toutes les autres dans un radar ou un score composite.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514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1576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 →  pour montrer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48828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Ramène chaque variable entre 0 et 1.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minimum mondial, 1 = maximum mondial. Lecture immédiate par un non-spécialiste.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 le graphique radar par pays.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2514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1576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→  pour calculer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136392"/>
            <a:ext cx="48828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et réduit chaque variable.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+2 signifie deux écarts-types au-dessus de la moyenne mondiale.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 le score composite économique.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73771"/>
          </a:solidFill>
          <a:ln w="12700">
            <a:solidFill>
              <a:srgbClr val="3737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 reste sur son échelle d’origine.  </a:t>
            </a:r>
            <a:r>
              <a:rPr lang="en-US" sz="145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 pour la Finlande parle davantage qu’un z-score de +1,97. Un tableau de bord se lit, il ne se décode pas.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corrélations disent — et taisent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facteurs dominent, un ne sert à rien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73736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28432" y="19385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trio de tête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28432" y="2359152"/>
            <a:ext cx="34198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soutien social et espérance de vie dépassent tous r = +0,71. Ils fondent le score composite utilisé ensuite.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397764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28432" y="417880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de la générosité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28432" y="4599432"/>
            <a:ext cx="34198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+0,18 seulement. C'est cohérent : elle est construite comme le résidu d'une régression des dons sur le PIB. Elle mesure ce que la richesse n'explique pas.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limite que les corrélations ne montrent pas</a:t>
            </a:r>
            <a:endParaRPr lang="en-US" sz="3200" dirty="0"/>
          </a:p>
        </p:txBody>
      </p:sp>
      <p:pic>
        <p:nvPicPr>
          <p:cNvPr id="5" name="Image 0" descr="/home/claude/fig/cell18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44805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828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déterminants dominants sont fortement corrélés entre eux : un pays riche dispose en général d'un meilleur système de santé et d'un tissu social plus dense.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77840" y="28803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ne peut donc pas attribuer à chacun une contribution propre.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77840" y="3749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de chercher une décomposition impossible avec ces seules données, nous avons déplacé la question 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448056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373771"/>
          </a:solidFill>
          <a:ln w="12700">
            <a:solidFill>
              <a:srgbClr val="3737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44805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plus « qu’est-ce qui explique le bonheur »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« qui s’écarte de ce que ses conditions laissent attendre »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7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tableau de bord à la question de départ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pages pour quatre lectures</a:t>
            </a:r>
            <a:endParaRPr lang="en-US" sz="3200" dirty="0"/>
          </a:p>
        </p:txBody>
      </p:sp>
      <p:pic>
        <p:nvPicPr>
          <p:cNvPr id="5" name="Image 0" descr="/home/claude/shots/p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675120" cy="3922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15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 : radar sur les colonnes normalisées, comparaison au monde, variations annuelles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89520" y="173736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45552" y="193852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45552" y="2359152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clés, carte mondiale, classement.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89520" y="2889504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45552" y="3090672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Happiness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45552" y="3511296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piloté par paramètre de champ, matrice de corrélation.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404164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45552" y="4242816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45552" y="4663440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d'un pays face à la moyenne mondiale.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589520" y="519379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45552" y="539496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45552" y="5815584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écarts au modèle — la réponse à la question du projet.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PRINCIPAL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fait mieux que ses fondamentaux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composite — 35 % PIB, 35 % soutien social, 30 % espérance de vie — </a:t>
            </a:r>
            <a:r>
              <a:rPr lang="en-US" sz="1400" dirty="0" err="1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</a:t>
            </a:r>
            <a:r>
              <a:rPr lang="en-US" sz="14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69 % de la variance du bien-être sur 2005-2023 (r² affiché par le tableau de bord). L'écart entre score observé et score attendu isole le quart restant. Chiffres ci-dessous : année 2023.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51460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5146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36992" y="271576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 ·  +1,11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36992" y="3136392"/>
            <a:ext cx="3511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Observé 7,38 pour un attendu de 6,27. Un pays qui obtient bien plus que ce que son économie laisse prévoir.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80960" y="43891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45902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  ·  −1,59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36992" y="5010912"/>
            <a:ext cx="3511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Observé 3,33 pour un attendu de 4,92. Revenu intermédiaire, bien-être déclaré très bas.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projet établit, et ce qu’il n’établit pas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FEFF6"/>
          </a:solidFill>
          <a:ln w="12700">
            <a:solidFill>
              <a:srgbClr val="EFEF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201168" cy="201168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01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Établi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bien-être déclaré est fortement associé au revenu, à la santé et au lien social.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composite de ces trois facteurs atteint r = 0,84.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générosité n'a aucun pouvoir explicatif — et c'est cohérent avec sa définition.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écarts de plus de deux points subsistent à conditions comparables, et ils sont stables dans le temps.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7373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BEEEA"/>
          </a:solidFill>
          <a:ln w="12700">
            <a:solidFill>
              <a:srgbClr val="FBE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201168" cy="201168"/>
          </a:xfrm>
          <a:prstGeom prst="ellipse">
            <a:avLst/>
          </a:prstGeom>
          <a:solidFill>
            <a:srgbClr val="37377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01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établi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causalité : ce sont des associations statistiques.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contribution propre des trois facteurs dominants, trop corrélés entre eux.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vision des inégalités internes : une moyenne nationale les efface.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garantie que l'échelle de Cantril se lise pareil d'une culture à l'autre.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ellipse">
            <a:avLst/>
          </a:prstGeom>
          <a:solidFill>
            <a:srgbClr val="FF674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02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D’EXPÉRIENCE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737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et prolongements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verrou principal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n'était ni technique ni méthodologique, mais interprétatif. Les corrélations s'obtiennent en une ligne de code ; ce qui est difficile, c'est d'accepter qu'elles ne se laissent pas décomposer, et de reformuler la question en conséquence.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difficultés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anomalie de saisie sur Haïti, détectable seulement par confrontation à l'OMS.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code ISO dans la source : référentiel géographique à construire.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encodage latin-1 non documenté.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Prolongements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146304" cy="146304"/>
          </a:xfrm>
          <a:prstGeom prst="ellipse">
            <a:avLst/>
          </a:prstGeom>
          <a:solidFill>
            <a:srgbClr val="37377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 la redondance entre les trois déterminants dominants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146304" cy="146304"/>
          </a:xfrm>
          <a:prstGeom prst="ellipse">
            <a:avLst/>
          </a:prstGeom>
          <a:solidFill>
            <a:srgbClr val="37377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émerger des profils de pays au-delà du classement linéaire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206240"/>
            <a:ext cx="146304" cy="146304"/>
          </a:xfrm>
          <a:prstGeom prst="ellipse">
            <a:avLst/>
          </a:prstGeom>
          <a:solidFill>
            <a:srgbClr val="37377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externes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Gini, indice de démocratie, part du secteur informel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5166360"/>
            <a:ext cx="146304" cy="146304"/>
          </a:xfrm>
          <a:prstGeom prst="ellipse">
            <a:avLst/>
          </a:prstGeom>
          <a:solidFill>
            <a:srgbClr val="37377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du tableau de bord sans installation requise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73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22960" y="3337560"/>
            <a:ext cx="2011680" cy="0"/>
          </a:xfrm>
          <a:prstGeom prst="line">
            <a:avLst/>
          </a:prstGeom>
          <a:noFill/>
          <a:ln w="31750">
            <a:solidFill>
              <a:srgbClr val="FF6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L'argent contribue au bonheur déclaré — plus que l'intuition populaire ne le concède.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reste, à conditions égales, deux points d'écart entre le Costa Rica et le Botswana.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commencent les vraies questions.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1947</Words>
  <Application>Microsoft Office PowerPoint</Application>
  <PresentationFormat>Grand écran</PresentationFormat>
  <Paragraphs>196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bien-être sur Terre</dc:title>
  <dc:creator>Projet fil rouge Data Analyst</dc:creator>
  <cp:lastModifiedBy>Sana Oubella</cp:lastModifiedBy>
  <cp:revision>2</cp:revision>
  <dcterms:created xsi:type="dcterms:W3CDTF">2026-07-27T19:06:51Z</dcterms:created>
  <dcterms:modified xsi:type="dcterms:W3CDTF">2026-07-27T19:12:03Z</dcterms:modified>
</cp:coreProperties>
</file>